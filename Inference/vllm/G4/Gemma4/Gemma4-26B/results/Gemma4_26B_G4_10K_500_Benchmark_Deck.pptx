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760875-EC1B-4AA6-9FA2-B5B0A20F78EF}">
  <a:tblStyle styleId="{1E760875-EC1B-4AA6-9FA2-B5B0A20F78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the Gemma 4 26B MoE Serving Benchmark &amp; Client Comparison presentation. This deck covers our empirical concurrency sweep (C=1 to 512) on Google Cloud GKE g4-standard-48 instances powered by a single NVIDIA RTX PRO 6000 Blackwell GPU (96GB GDDR7 VRAM), comparing native vLLM bench serve against SGLang bench_serving.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slide_1789343241781159938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slide_1789343241781159938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 highlights our three headline metrics: 24,515 total tokens/sec peak throughput, sub-second median TTFT from C=1 through C=64 on 10K input prompts, and over 1,155 output tokens/sec decode speed. We also highlight that C=64 to C=128 is the optimal production operating range, and that a single g4-standard-48 node matches an 8-GPU g4-standard-384 node (at TP=1) within 0.5%.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lide_1789343241781235058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lide_178934324178123505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3 explains why Gemma 4 26B MoE performs so strongly on both single-GPU cloud instances and local workstations. Because only 4B parameters are active per token across 30 layers, decode bandwidth demand is a fraction of a 31B dense model. On 1x RTX PRO 6000 with 96 GB GDDR7, FP8 model weights take ~26 GB, leaving over 60 GB for FP8 KV cache.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lide_1789343241781270489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lide_1789343241781270489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4 presents the complete concurrency sweep from C=1 to C=512 using native vllm bench serve with --random-range-ratio 0.0 and --ignore-eos. Every single request sends exactly 10,239 input tokens and decodes 500 output tokens. Notice that output throughput crosses 1,000 tok/s at C=128 while keeping median TTFT at 2.18 seconds.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slide_1789343241781545709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slide_1789343241781545709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 presents the concurrency sweep from C=1 to C=512 using sglang.bench_serving against the exact same vLLM serving pod on g4-standard-48. Because sglang.bench_serving samples uniformly from 0.5x to 1.0x length (~5,770 input / ~280 output tokens), median TTFT stays under 1 second all the way to C=128, and total throughput reaches 24,515 tokens/sec at C=512.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lide_1789343241781788509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lide_1789343241781788509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 explains the root causes behind the differences between vllm bench serve and sglang.bench_serving. First, prompt sampling semantics: vllm bench serve with r=0.0 sends strictly 10,239 input and 500 output tokens (10,739 tokens/request), whereas sglang.bench_serving clamps to [0.5L, 1.0L] averaging ~6,050 tokens/request. Second, at medium concurrency (C=8 to 128), vllm bench serve achieves higher token throughput because full 500-token decode sequences keep the continuous batching decode loop saturated. Third, at high concurrency, sglang.bench_serving reports lower TTFT and E2E latency simply because each prompt prefills and decodes ~44% fewer tokens.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slide_1789343241781836998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slide_1789343241781836998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7 summarizes our production sizing guidance for Gemma 4 26B MoE on GKE g4-standard-48 (1x RTX PRO 6000 Blackwell GPU) and provides clear recommendations on when to use vllm bench serve (strict fixed-length stress testing) versus sglang.bench_serving (cross-engine baseline comparisons with uniform [0.5x, 1.0x] length distributions).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pallavim1/ai-infra-projects/tree/main/Inference/vllm/G4/Gemma4/Gemma4-26B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pallavim1/ai-infra-projects/blob/main/Inference/vllm/G4/Gemma4/Gemma4-26B/README.m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pallavim1/ai-infra-projects/blob/main/Inference/vllm/G4/Gemma4/Gemma4-26B/results/vllm_benchmark_10k_500_report.m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pallavim1/ai-infra-projects/blob/main/Inference/vllm/G4/Gemma4/Gemma4-26B/results/sglang_benchmark_10k_500_report.m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pallavim1/ai-infra-projects/blob/main/Inference/vllm/G4/Gemma4/Gemma4-26B/results/vllm_vs_sglang_client_comparison.m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pallavim1/ai-infra-projects/tree/main/Inference/vllm/G4/Gemma4/Gemma4-26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63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508000" y="355600"/>
            <a:ext cx="81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GOOGLE CLOUD AI INFRASTRUCTURE  |  GKE G4 BENCHMARK &amp; METHODOLOGY REPORT</a:t>
            </a:r>
            <a:endParaRPr b="1" sz="95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08000" y="635000"/>
            <a:ext cx="8127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Gemma 4 26B MoE on GKE G4 (RTX PRO 6000)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08000" y="1168400"/>
            <a:ext cx="812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10K Input / 500 Output Concurrency Sweep (C=1 to 512) &amp; Client Comparison (vLLM vs. SGLang)</a:t>
            </a:r>
            <a:endParaRPr sz="120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08000" y="1651000"/>
            <a:ext cx="2540100" cy="2412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508000" y="1651000"/>
            <a:ext cx="2540100" cy="4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660400" y="1752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Architecture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60400" y="2057400"/>
            <a:ext cx="22353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Model: google/gemma-4-26B-A4B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Type: Sparse MoE Architecture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Total Params: 26 Billion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Active Params: ~4.0B per token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Depth: 30 Transformer Layers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Attention: Tied K/V projections,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Sliding Window + Global Attn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Quantization: FP8 Dynamic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302000" y="1651000"/>
            <a:ext cx="2540100" cy="2412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3302000" y="1651000"/>
            <a:ext cx="2540100" cy="4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3454400" y="1752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GKE G4 Infrastructure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454400" y="2057400"/>
            <a:ext cx="22353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Cluster: pm-g4-sglang-cluster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Zone: us-south1-a (GKE 1.35)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Node: g4-standard-48 (1x GPU)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GPU: NVIDIA RTX PRO 6000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Blackwell Server Edition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GPU Memory: 96 GB GDDR7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CPU/RAM: 48 vCPUs / 180 GB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Parallelism: Tensor Parallel = 1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6096000" y="1651000"/>
            <a:ext cx="2540100" cy="2412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6096000" y="1651000"/>
            <a:ext cx="2540100" cy="4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6248400" y="1752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Serving &amp; Clients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248400" y="2057400"/>
            <a:ext cx="2235300" cy="19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Engine: vLLM (vllm-openai:gemma4)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KV Cache: FP8 (--kv-cache-dtype)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Context Limit: 12,288 Tokens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Attention Backend: Triton Attn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Workload: 10,240 In / 500 Out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Sweep: Concurrency 1 to 512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Clients Evaluated: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1) vllm bench serve (Fixed)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2) sglang.bench_serving (Uniform)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508000" y="4241800"/>
            <a:ext cx="8127900" cy="4317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584200" y="4318000"/>
            <a:ext cx="7975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A7F3D0"/>
                </a:solidFill>
                <a:latin typeface="Roboto"/>
                <a:ea typeface="Roboto"/>
                <a:cs typeface="Roboto"/>
                <a:sym typeface="Roboto"/>
              </a:rPr>
              <a:t>KEY TAKEAWAY: 1x RTX PRO 6000 GPU delivers 24,515 total tok/s (1,155 output tok/s) with &lt;681ms TTFT up to C=64 on 10K prompts.</a:t>
            </a:r>
            <a:endParaRPr b="1" sz="900">
              <a:solidFill>
                <a:srgbClr val="A7F3D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0" y="0"/>
            <a:ext cx="9144000" cy="5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457200" y="177800"/>
            <a:ext cx="82296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EXECUTIVE SUMMARY  |  KEY BENCHMARK TAKEAWAYS</a:t>
            </a:r>
            <a:endParaRPr b="1" sz="85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57200" y="355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Single-GPU Blackwell Performance on 10K Context Workloads</a:t>
            </a:r>
            <a:endParaRPr b="1" sz="15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Empirical results across Concurrency 1 to 512 on GKE g4-standard-48 (1x NVIDIA RTX PRO 6000 Blackwell, TP=1, FP8)</a:t>
            </a:r>
            <a:endParaRPr sz="98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57200" y="990600"/>
            <a:ext cx="2590800" cy="1498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457200" y="990600"/>
            <a:ext cx="2590800" cy="4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558800" y="1092200"/>
            <a:ext cx="2387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24,515 tok/s</a:t>
            </a:r>
            <a:endParaRPr b="1" sz="21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58800" y="1473200"/>
            <a:ext cx="238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Peak Total Token Throughput</a:t>
            </a:r>
            <a:endParaRPr b="1" sz="98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558800" y="1727200"/>
            <a:ext cx="238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24,515 tok/s with SGLang client (C=512)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22,312 tok/s with fixed 10K vLLM client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Sustained on 1x RTX PRO 6000 GPU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276600" y="990600"/>
            <a:ext cx="2590800" cy="1498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3276600" y="990600"/>
            <a:ext cx="2590800" cy="4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3378200" y="1092200"/>
            <a:ext cx="2387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178 – 681 ms</a:t>
            </a:r>
            <a:endParaRPr b="1" sz="2100">
              <a:solidFill>
                <a:srgbClr val="10B98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378200" y="1473200"/>
            <a:ext cx="238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Sub-Second Median TTFT (C=1–64)</a:t>
            </a:r>
            <a:endParaRPr b="1" sz="98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3378200" y="1727200"/>
            <a:ext cx="238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178ms median TTFT at C=1 (SGLang)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369ms median TTFT at C=1 (strict 10.2K)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Stays under 681ms through C=64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096000" y="990600"/>
            <a:ext cx="2590800" cy="1498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6096000" y="990600"/>
            <a:ext cx="2590800" cy="4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197600" y="1092200"/>
            <a:ext cx="2387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59E0B"/>
                </a:solidFill>
                <a:latin typeface="Roboto"/>
                <a:ea typeface="Roboto"/>
                <a:cs typeface="Roboto"/>
                <a:sym typeface="Roboto"/>
              </a:rPr>
              <a:t>1,155 tok/s</a:t>
            </a:r>
            <a:endParaRPr b="1" sz="2100">
              <a:solidFill>
                <a:srgbClr val="F59E0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197600" y="1473200"/>
            <a:ext cx="238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Peak Output Decode Throughput</a:t>
            </a:r>
            <a:endParaRPr b="1" sz="98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197600" y="1727200"/>
            <a:ext cx="238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1,155 output tok/s (SGLang C=512)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1,039 output tok/s (vLLM fixed 500 OSL)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119–128 tok/s single-user streaming</a:t>
            </a:r>
            <a:endParaRPr sz="84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57200" y="2616200"/>
            <a:ext cx="4038600" cy="1600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457200" y="2616200"/>
            <a:ext cx="4038600" cy="4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9600" y="2717800"/>
            <a:ext cx="378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Sweet-Spot Regime: Concurrency 64 to 128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09600" y="3022600"/>
            <a:ext cx="373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Concurrency 64: Delivers 18,992 total tok/s (884 output tok/s) with 2.68s median TTFT under strict 10K/500 load, and 17,042 total tok/s (681ms median TTFT) under uniform load.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Concurrency 128: Reaches 21,489 total tok/s (1,001 output tok/s) with 2.18s median TTFT.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Balances maximum GPU tensor core saturation with responsive user experience.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648200" y="2616200"/>
            <a:ext cx="4038600" cy="1600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648200" y="2616200"/>
            <a:ext cx="4038600" cy="4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800600" y="2717800"/>
            <a:ext cx="378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Single-GPU Equivalence (g4-standard-48 vs. 384)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800600" y="3022600"/>
            <a:ext cx="373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Dedicated 1x GPU node (g4-standard-48) matches 8x GPU node (g4-standard-384, TP=1) within &lt;0.5% across all concurrency points.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Proves zero host CPU, NUMA, or PCIe bandwidth bottleneck on 1-GPU G4 slices.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Enables fine-grained GKE horizontal pod autoscaling by single-GPU increments.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57200" y="4343400"/>
            <a:ext cx="8229600" cy="330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58800" y="4394200"/>
            <a:ext cx="80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 u="sng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GitHub Repository: Inference/vllm/G4/Gemma4/Gemma4-26B ↗</a:t>
            </a:r>
            <a:endParaRPr b="1" sz="88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0"/>
            <a:ext cx="9144000" cy="5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57200" y="177800"/>
            <a:ext cx="82296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ARCHITECTURE &amp; CROSS-PLATFORM ANALYSIS</a:t>
            </a:r>
            <a:endParaRPr b="1" sz="85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57200" y="355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Why Gemma 4 26B MoE Excels on Single-GPU G4 &amp; Workstations</a:t>
            </a:r>
            <a:endParaRPr b="1" sz="15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Activating only ~4B parameters per token yields 2.5x–3x higher decode throughput than 31B Dense</a:t>
            </a:r>
            <a:endParaRPr sz="98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57200" y="990600"/>
            <a:ext cx="4038600" cy="3225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57200" y="990600"/>
            <a:ext cx="4038600" cy="4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09600" y="1092200"/>
            <a:ext cx="378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Gemma 4 26B MoE vs. 31B Dense Architecture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09600" y="1397000"/>
            <a:ext cx="3733800" cy="27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Sparse Mixture-of-Experts (MoE) Efficiency: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Gemma 4 26B has 26B total parameters but activates only ~4.0B–6.2B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parameters per token (vs 31B active per token in Gemma 4 31B Dense).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Overcoming Memory-Bandwidth Bottlenecks: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LLM token generation (decode) is strictly memory-bandwidth bound.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Reading 4B active weights per step yields 2.5x–3x higher decode tok/s.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Compact Layer &amp; KV Cache Footprint: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30 Transformer layers (vs 60 in 31B Dense) with tied K/V projections,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sliding window + global attention reduces KV cache memory pressure.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Massive Batch Headroom on 96GB GDDR7: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FP8 model weights (~26 GB) leave &gt;60 GB VRAM for FP8 KV cache,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enabling 512 concurrent 10K-context requests without preemption.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648200" y="990600"/>
            <a:ext cx="4038600" cy="3225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648200" y="990600"/>
            <a:ext cx="4038600" cy="4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800600" y="1092200"/>
            <a:ext cx="378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Cross-Platform Benchmark Comparison (26B MoE)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800600" y="1397000"/>
            <a:ext cx="3733800" cy="27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Cloud GPU — 1x NVIDIA RTX PRO 6000 (96GB GDDR7, vLLM FP8):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- Single-Stream (C=1): 109.5 – 118.0 decode tok/s (7.8ms TPOT)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- Sweet Spot (C=128): 1,000.5 decode tok/s | 21,489 total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- Peak Saturation (C=512): 1,154.8 decode tok/s | 24,515 total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Local Workstation — Apple M4 Pro (48GB Unified, LiteRT-LM Q4_0):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- Single-Stream Decode: ~60.2 tok/s (2x faster than 12B Dense @ 30.4)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- 1K Prompt Prefill Throughput: ~659 tok/s | RAM: 2.3 – 25.6 GB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Cloudtop CPU — AMD EPYC 7B13 (64-Core, llama.cpp AVX2 Q4_0):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- Single-Stream Decode: 24.9 – 29.9 tok/s (vs 11.6 tok/s Dense)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- Host RAM Footprint: 15.0 GB (@10 tok) to 42.5 GB (@64K context)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57200" y="4343400"/>
            <a:ext cx="8229600" cy="330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58800" y="4394200"/>
            <a:ext cx="80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 u="sng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View Gemma 4 Architecture &amp; Cross-Platform Benchmark Walkthrough ↗</a:t>
            </a:r>
            <a:endParaRPr b="1" sz="88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0" y="0"/>
            <a:ext cx="9144000" cy="5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57200" y="177800"/>
            <a:ext cx="82296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CONCURRENCY SWEEP  |  NATIVE VLLM CLIENT (STRICT FIXED LENGTH)</a:t>
            </a:r>
            <a:endParaRPr b="1" sz="85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57200" y="355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Gemma 4 26B vLLM Sweep: Strict Fixed 10,239 Input / 500 Output</a:t>
            </a:r>
            <a:endParaRPr b="1" sz="15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Executed via vllm bench serve --random-range-ratio 0.0 --ignore-eos on 1x g4-standard-48 (TP=1, FP8)</a:t>
            </a:r>
            <a:endParaRPr sz="98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1" name="Google Shape;131;p16"/>
          <p:cNvGraphicFramePr/>
          <p:nvPr/>
        </p:nvGraphicFramePr>
        <p:xfrm>
          <a:off x="4572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{1E760875-EC1B-4AA6-9FA2-B5B0A20F78EF}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Conc.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Prompts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Output Tok/s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Tok/s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TTFT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P99 TTFT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TPOT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E2E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109.45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2,350.85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368.5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372.9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8.41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4.57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395.76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8,500.21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1,729.8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2,674.3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16.76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10.09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555.73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11,935.96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2,096.3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5,299.6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25.00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14.31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64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701.89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15,075.21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2,652.0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10,464.2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40.19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22.62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64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884.24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18,991.66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2,675.6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21,011.0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68.08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35.66 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256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1,000.53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21,489.31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2,176.5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42,330.3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120.23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62.69 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256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1,020.99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21,928.85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37,146.3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107,201.0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144.94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109.40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1,038.83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22,311.93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166,089.8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235,171.3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145.36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237.53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6"/>
          <p:cNvSpPr/>
          <p:nvPr/>
        </p:nvSpPr>
        <p:spPr>
          <a:xfrm>
            <a:off x="457200" y="3860800"/>
            <a:ext cx="8229600" cy="406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457200" y="3860800"/>
            <a:ext cx="50700" cy="406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09600" y="3911600"/>
            <a:ext cx="797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Strict Length Enforcement (--random-range-ratio 0.0): Every prompt processes strictly 10,739 tokens (10,239 in + 500 out). Highlighted rows (C=64, C=128) show optimal production sweet spot (&gt;21.4K tok/s at 2.18s TTFT).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57200" y="4343400"/>
            <a:ext cx="8229600" cy="330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58800" y="4394200"/>
            <a:ext cx="80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 u="sng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Full Native vLLM Benchmark Report: results/vllm_benchmark_10k_500_report.md ↗</a:t>
            </a:r>
            <a:endParaRPr b="1" sz="88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0"/>
            <a:ext cx="9144000" cy="5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7200" y="177800"/>
            <a:ext cx="82296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CONCURRENCY SWEEP  |  SGLANG CLIENT (UNIFORM [0.5X, 1.0X] DISTRIBUTION)</a:t>
            </a:r>
            <a:endParaRPr b="1" sz="85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57200" y="355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Gemma 4 26B vLLM Sweep: SGLang Client (Uniform Range)</a:t>
            </a:r>
            <a:endParaRPr b="1" sz="15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Executed via sglang.bench_serving --random-range-ratio 1 --ignore-eos on identical vLLM G4 server</a:t>
            </a:r>
            <a:endParaRPr sz="98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5" name="Google Shape;145;p17"/>
          <p:cNvGraphicFramePr/>
          <p:nvPr/>
        </p:nvGraphicFramePr>
        <p:xfrm>
          <a:off x="457200" y="9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{1E760875-EC1B-4AA6-9FA2-B5B0A20F78EF}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Conc.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Prompts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Output Tok/s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 Tok/s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Tok/s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TTFT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TPOT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Median E2E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93B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118.03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2,317.8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2,435.80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177.5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7.80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1.35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321.25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5,458.2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5,779.40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275.5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19.05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5.77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436.33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8,238.0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8,674.37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363.1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29.11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8.14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64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565.62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11,430.2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11,995.77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592.7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45.60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12.91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F172A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64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733.83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16,308.1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17,041.97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680.8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68.08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16.94 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256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941.48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19,679.1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20,620.57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1,039.4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98.68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28.15 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256</a:t>
                      </a:r>
                      <a:endParaRPr b="1"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1,056.21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22,850.2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23,906.38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14,167.1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146.21 ms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20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49.55 s</a:t>
                      </a:r>
                      <a:endParaRPr sz="820">
                        <a:solidFill>
                          <a:srgbClr val="CBD5E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11827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512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1024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1,154.84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23,360.5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24,515.32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67,969.7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156.89 ms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20">
                          <a:solidFill>
                            <a:srgbClr val="A7F3D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95.17 s</a:t>
                      </a:r>
                      <a:endParaRPr b="1" sz="820">
                        <a:solidFill>
                          <a:srgbClr val="A7F3D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7"/>
          <p:cNvSpPr/>
          <p:nvPr/>
        </p:nvSpPr>
        <p:spPr>
          <a:xfrm>
            <a:off x="457200" y="3860800"/>
            <a:ext cx="8229600" cy="406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57200" y="3860800"/>
            <a:ext cx="50700" cy="406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09600" y="3911600"/>
            <a:ext cx="797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Upstream Baseline Compatibility (--random-range-ratio 1): Samples prompt lengths uniformly from [0.5x, 1.0x] (~5,770 avg input / ~280 avg output tokens). Reaches 24,515.32 total tok/s and 1,154.84 output tok/s at C=512.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57200" y="4343400"/>
            <a:ext cx="8229600" cy="330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58800" y="4394200"/>
            <a:ext cx="80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 u="sng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Full SGLang Client Report: results/sglang_benchmark_10k_500_report.md ↗</a:t>
            </a:r>
            <a:endParaRPr b="1" sz="88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9144000" cy="5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57200" y="177800"/>
            <a:ext cx="82296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METHODOLOGY &amp; ROOT-CAUSE ANALYSIS</a:t>
            </a:r>
            <a:endParaRPr b="1" sz="85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457200" y="355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Deep-Dive: vllm bench serve vs. sglang.bench_serving</a:t>
            </a:r>
            <a:endParaRPr b="1" sz="15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Why prompt length sampling (--random-range-ratio) explains all throughput &amp; latency differences</a:t>
            </a:r>
            <a:endParaRPr sz="98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57200" y="990600"/>
            <a:ext cx="2590800" cy="3225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457200" y="990600"/>
            <a:ext cx="2590800" cy="4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09600" y="1092200"/>
            <a:ext cx="233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Prompt Sampling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09600" y="1397000"/>
            <a:ext cx="2286000" cy="27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Different CLI Definitions: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The root cause of performance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differences is how each client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interprets --random-range-ratio.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vllm bench serve (r = 0.0):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Samples [L*(1-r), L*(1+r)].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Every request is strictly 10,239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input + 500 output = 10,739 tok.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sglang.bench_serving (r = 1):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Clamps random sampling to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[0.5 * L, 1.0 * L].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Requests average ~5,770 input +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~280 output = ~6,050 tok/req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(~44% fewer tokens per prompt).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276600" y="990600"/>
            <a:ext cx="2590800" cy="3225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3276600" y="990600"/>
            <a:ext cx="2590800" cy="4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3429000" y="1092200"/>
            <a:ext cx="233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Medium Load (C=8–128)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429000" y="1397000"/>
            <a:ext cx="2286000" cy="27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vLLM Client Higher Tok/s: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From C=8 to C=128, vllm bench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serve achieves higher Total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(8.5K–21.5K vs 5.8K–20.6K) and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Output Tok/s (396–1,001 vs 321–941).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Decode Amortization Effect: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In vllm bench serve, every prompt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executes a full 500-token decode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loop without early termination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at 250–300 tokens.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Continuous Batch Saturation: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Longer decode sequences amortize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prefill cost and keep RTX PRO 6000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FP8 tensor cores saturated.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096000" y="990600"/>
            <a:ext cx="2590800" cy="32259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6096000" y="990600"/>
            <a:ext cx="2590800" cy="4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248400" y="1092200"/>
            <a:ext cx="233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High Load (C=256–512)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248400" y="1397000"/>
            <a:ext cx="2286000" cy="27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Prefill Queueing &amp; TTFT: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Prefill time scales linearly with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input length. At C=1, 10.2K tokens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takes 368ms vs 178ms for 5.7K.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Queue Wait Amplification: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At C=512 (max-num-batched-tokens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=12288), queueing 10.2K prefills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causes 2.4x longer queue waits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(166s vs 68s median TTFT).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E2E Latency Proportionality: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Decoding 500 tokens takes ~1.8x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longer than decoding ~280 tokens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at identical TPOT (~68ms @ C=64: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35.7s vs 16.9s E2E latency).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57200" y="4343400"/>
            <a:ext cx="8229600" cy="330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58800" y="4394200"/>
            <a:ext cx="80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 u="sng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Side-by-Side Client Comparison Report: results/vllm_vs_sglang_client_comparison.md ↗</a:t>
            </a:r>
            <a:endParaRPr b="1" sz="88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0" y="0"/>
            <a:ext cx="9144000" cy="5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57200" y="177800"/>
            <a:ext cx="82296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ACTIONABLE GUIDANCE  |  PRODUCTION SIZING &amp; TOOLING SELECTION</a:t>
            </a:r>
            <a:endParaRPr b="1" sz="85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457200" y="355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Production Sizing &amp; Benchmark Methodology Guidelines</a:t>
            </a:r>
            <a:endParaRPr b="1" sz="15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Recommended operating points on GKE g4-standard-48 and benchmark client best practices</a:t>
            </a:r>
            <a:endParaRPr sz="98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57200" y="990600"/>
            <a:ext cx="2590800" cy="1676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57200" y="990600"/>
            <a:ext cx="2590800" cy="4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09600" y="1092200"/>
            <a:ext cx="233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Interactive (C=1–16)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609600" y="139700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Target Workload: Real-time chat,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coding assistants, interactive UI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Median TTFT: 178 ms – 363 ms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Generation: 35 – 128 tok/s/user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Total Tok/s: 2.4K – 11.9K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Delivers instant sub-400ms TTFT.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276600" y="990600"/>
            <a:ext cx="2590800" cy="1676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3276600" y="990600"/>
            <a:ext cx="2590800" cy="4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3429000" y="1092200"/>
            <a:ext cx="233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Sweet Spot (C=64–128)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429000" y="139700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Target Workload: Multi-tenant API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serving &amp; agentic workflows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Median TTFT: 0.68 s – 2.68 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Output Rate: 884 – 1,001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Total Tok/s: 17.0K – 21.5K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Optimal HPA target per G4 GPU.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096000" y="990600"/>
            <a:ext cx="2590800" cy="1676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096000" y="990600"/>
            <a:ext cx="2590800" cy="4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248400" y="1092200"/>
            <a:ext cx="233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Batch Saturation (C=256–512)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6248400" y="139700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Target Workload: Offline document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 summarization &amp; async pipelines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Output Rate: 1,021 – 1,155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Total Tok/s: 21.9K – 24.5K tok/s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Req Throughput: 4.4 – 4.5 req/s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Maximizes tokens per GPU dollar.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57200" y="2794000"/>
            <a:ext cx="4038600" cy="14223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457200" y="2794000"/>
            <a:ext cx="4038600" cy="4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09600" y="2895600"/>
            <a:ext cx="378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When to Use vllm bench serve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09600" y="3200400"/>
            <a:ext cx="3733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Flag: --dataset-name random --random-input-len 10240 --random-output-len 500 --random-range-ratio 0.0 --ignore-eos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Best For: Strict SLA validation, worst-case KV cache sizing, and deterministic hardware stress testing where every request must hit exact context limits.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648200" y="2794000"/>
            <a:ext cx="4038600" cy="14223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4648200" y="2794000"/>
            <a:ext cx="4038600" cy="4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800600" y="2895600"/>
            <a:ext cx="3784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When to Use sglang.bench_serving</a:t>
            </a:r>
            <a:endParaRPr b="1" sz="102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4800600" y="3200400"/>
            <a:ext cx="3733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Flag: python3 -m sglang.bench_serving --dataset-name random --random-input-len 10240 --random-output-len 500 --random-range-ratio 1 --ignore-eos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Best For: Cross-engine comparisons against published SGLang benchmark reports and evaluating realistic variable-length traffic ([0.5x, 1.0x] distribution).</a:t>
            </a:r>
            <a:endParaRPr sz="85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457200" y="4343400"/>
            <a:ext cx="8229600" cy="330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58800" y="4394200"/>
            <a:ext cx="80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 u="sng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All Kubernetes Manifests &amp; Reports: github.com/pallavim1/ai-infra-projects (Gemma4-26B) ↗</a:t>
            </a:r>
            <a:endParaRPr b="1" sz="88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